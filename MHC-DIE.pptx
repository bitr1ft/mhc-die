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</p:sldIdLst>
  <p:sldSz cx="16256000" cy="9144000"/>
  <p:notesSz cx="9144000" cy="16256000"/>
  <p:embeddedFontLst>
    <p:embeddedFont>
      <p:font typeface="微软雅黑" panose="020B0503020204020204" pitchFamily="34" charset="-122"/>
      <p:regular r:id="rId19"/>
      <p:bold r:id="rId20"/>
    </p:embeddedFont>
    <p:embeddedFont>
      <p:font typeface="Quattrocento Sans" panose="020B0502050000020003" pitchFamily="34" charset="0"/>
      <p:regular r:id="rId21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25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0" y="457200"/>
            <a:ext cx="441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Cyber Security Academy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3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SEMESTER PROJECT - CRYPTOGRAPHY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311400"/>
            <a:ext cx="1473200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MHC-DIE: Modified Hybrid Chaotic-DNA Image Encryption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036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Novel Symmetric Image Encryption Algorithm with Modified Chaotic Maps and Hybrid Diffusion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0132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461000"/>
            <a:ext cx="16256000" cy="3683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070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Adeel Haider | Muhammad Rafay | Ihsan Ul Haq | Hadi Ali | Sohaib Shahzad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553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Mr. Usman Ghani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70612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Cyber Security Academy | Cryptography Course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7569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0" y="7950200"/>
            <a:ext cx="533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FFFFFF">
                    <a:alpha val="313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Background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and Motivation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41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08000" y="1041400"/>
            <a:ext cx="1524000" cy="3556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9" name="Text 7"/>
          <p:cNvSpPr/>
          <p:nvPr/>
        </p:nvSpPr>
        <p:spPr>
          <a:xfrm>
            <a:off x="508000" y="10414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1200" y="1549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for Image-Specific Encryption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200" y="2006600"/>
            <a:ext cx="6959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images are widely used in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media, medical systems, military, and cloud storage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Unlike text, images have: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High correlation between neighboring pixels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Large data size and redundancy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Traditional encryption (AES) is unsuitable for direct image encryption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382000" y="1041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1041400"/>
            <a:ext cx="1524000" cy="3556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0414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85200" y="1549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 for Effective Encryption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85200" y="2006600"/>
            <a:ext cx="6959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effective image encryption algorithm must: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Break statistical properties (correlation, histogram patterns)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Provide a sufficiently large key space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 computationally efficient for practical use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Resist known cryptanalytic attacks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8000" y="4724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08000" y="4724400"/>
            <a:ext cx="1524000" cy="355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508000" y="47244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1200" y="5232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Chaos + DNA Computing Approach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200" y="5689600"/>
            <a:ext cx="6959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Chaos-based encryption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leverages chaotic systems' sensitivity to initial conditions (butterfly effect) for strong diffusion.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computing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adds biological-inspired confusion by encoding pixels as DNA sequences, increasing complexity.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382000" y="4724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2000" y="4724400"/>
            <a:ext cx="1524000" cy="355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47244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Work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585200" y="5232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MHC-DIE: A Novel Hybrid Algorithm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585200" y="5689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presents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(Modified Hybrid Chaotic-DNA Image Encryption):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Three modified chaotic maps combined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Dynamic DNA encoding with 8 rules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Hybrid bit-level + pixel-level permutation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Novel addition+XOR bidirectional diffusion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Background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Chaos-Based Encryption and DNA Computing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Chaotic Systems for Encryption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8000" y="1574800"/>
            <a:ext cx="7302500" cy="660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28800"/>
            <a:ext cx="67945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Properties: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 to initial conditions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(butterfly effect)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Ergodicity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trajectories visit all regions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Mixing behavior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rapid state evolution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but unpredictable</a:t>
            </a:r>
            <a:endParaRPr lang="en-US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1D Maps: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Logistic Map: x</a:t>
            </a:r>
            <a:r>
              <a:rPr lang="en-US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n+1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r·x</a:t>
            </a:r>
            <a:r>
              <a:rPr lang="en-US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·(1-x</a:t>
            </a:r>
            <a:r>
              <a:rPr lang="en-US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Sine Map: x</a:t>
            </a:r>
            <a:r>
              <a:rPr lang="en-US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n+1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r·sin(pi·x</a:t>
            </a:r>
            <a:r>
              <a:rPr lang="en-US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Tent Map: piecewise linear map</a:t>
            </a:r>
            <a:endParaRPr lang="en-US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Higher-Dimensional: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Henon Map, Arnold Cat Map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Larger parameter space, complex dynamics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4455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Computing in Cryptography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445500" y="1574800"/>
            <a:ext cx="7302500" cy="660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1828800"/>
            <a:ext cx="67945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Concept: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Pixel values converted to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sequences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Bases: A (00), T (01), G (10), C (11)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encoding rules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2-bit to base mapping</a:t>
            </a:r>
            <a:endParaRPr lang="en-US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Biological Operations: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DNA Addition (mod 4)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DNA Subtraction (mod 4)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DNA XOR operations</a:t>
            </a:r>
            <a:endParaRPr lang="en-US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Benefits: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Extra layer of confusion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Increases algorithm complexity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More key-dependent parameters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Harder to break via cryptanalysis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 Review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Methods and Research Gaps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117600"/>
            <a:ext cx="381000" cy="381000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1176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2200" y="11176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Chaotic Map Limitations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2200" y="1549400"/>
            <a:ext cx="14655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algorithms use only 1-2 chaotic maps, limiting the key space and making systems vulnerable to multi-map reconstruction attacks. Arnold Cat Map has periodicity; Logistic Map has periodic windows near r = 3.83, 3.74.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8000" y="24892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000" y="2717800"/>
            <a:ext cx="381000" cy="3810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508000" y="27178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2200" y="27178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DNA Encoding Rules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2200" y="3149600"/>
            <a:ext cx="14655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encoding rules are often fixed throughout the entire encryption process, reducing the effective key space and creating predictable patterns that attackers can exploit.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8000" y="39370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000" y="4165600"/>
            <a:ext cx="381000" cy="3810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508000" y="41656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2200" y="41656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Unidirectional Diffusion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2200" y="4597400"/>
            <a:ext cx="14655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Diffusion operations are typically forward-only, leaving the algorithm vulnerable to partial decryption attacks where an attacker can recover portions of the plaintext from the end of the ciphertext.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8000" y="55372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8000" y="5765800"/>
            <a:ext cx="381000" cy="381000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23" name="Text 21"/>
          <p:cNvSpPr/>
          <p:nvPr/>
        </p:nvSpPr>
        <p:spPr>
          <a:xfrm>
            <a:off x="508000" y="57658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92200" y="57658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XOR Cancellation Vulnerability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92200" y="6197600"/>
            <a:ext cx="14655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both forward and backward diffusion use XOR-based cumulative feedback, a mathematical cancellation occurs: cumxor(cumxor(x)) = x, limiting the effective NPCR to approximately 25% regardless of encryption rounds.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08000" y="71628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71628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Motivation:</a:t>
            </a:r>
            <a:r>
              <a:rPr lang="en-US" sz="16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four critical gaps in existing literature directly drive the design of MHC-DIE, with each gap addressed by a specific novel modification.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Algorithm Design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Overview and Key Schedule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117600"/>
            <a:ext cx="2794000" cy="4064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>
                    <a:alpha val="3137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000" y="2032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Schedule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400" y="2489200"/>
            <a:ext cx="24892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SHA-512 key derivation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 = SHA-512(key||0x00||"MHC-DIE-v1.0")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Key space: 2</a:t>
            </a:r>
            <a:r>
              <a:rPr lang="en-US" sz="1400" baseline="30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64-byte hash to all parameters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03600" y="3022600"/>
            <a:ext cx="457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</p:sp>
      <p:sp>
        <p:nvSpPr>
          <p:cNvPr id="12" name="Shape 10"/>
          <p:cNvSpPr/>
          <p:nvPr/>
        </p:nvSpPr>
        <p:spPr>
          <a:xfrm>
            <a:off x="3962400" y="1117600"/>
            <a:ext cx="2794000" cy="4064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39624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>
                    <a:alpha val="3137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89400" y="2032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Chaotic Maps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14800" y="2489200"/>
            <a:ext cx="24892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Perturbed Logistic Map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Modified Sine Map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Tent Map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Three-map combination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Round-dependent parameters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858000" y="3022600"/>
            <a:ext cx="457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</p:sp>
      <p:sp>
        <p:nvSpPr>
          <p:cNvPr id="17" name="Shape 15"/>
          <p:cNvSpPr/>
          <p:nvPr/>
        </p:nvSpPr>
        <p:spPr>
          <a:xfrm>
            <a:off x="7416800" y="1117600"/>
            <a:ext cx="2794000" cy="4064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74168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>
                    <a:alpha val="3137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43800" y="2032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Permutation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69200" y="2489200"/>
            <a:ext cx="24892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Bit-level permutation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Row permutation (sine)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Column permutation (tent)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3-level hybrid approach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0312400" y="3022600"/>
            <a:ext cx="457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71200" y="1117600"/>
            <a:ext cx="4876800" cy="406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25400">
            <a:solidFill>
              <a:srgbClr val="1A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71200" y="1270000"/>
            <a:ext cx="4876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998200" y="2032000"/>
            <a:ext cx="462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Diffusion + DNA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125200" y="2489200"/>
            <a:ext cx="4368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DNA encoding (8 rules, dynamic)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Forward addition diffusion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Backward XOR diffusion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Cross-channel mixing (RGB)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 rounds, 9 steps per round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08000" y="5461000"/>
            <a:ext cx="15240000" cy="2540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 Pipeline (Per Round, Per Channel)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2000" y="60325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1-3: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chaotic sequences (logistic, sine, tent) with round-dependent parameters from SHA-512 derived keys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4-6: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Three-level permutation: bit-shuffle within bytes, row-scramble with sine map, column-scramble with tent map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7-9: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DNA encode with dynamically selected rule, apply forward chained addition diffusion, then backward chained XOR diffusion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Cross-channel: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RGB images, 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XOR 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XOR 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prevent independent channel attacks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Algorithm Design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Modified Chaotic Maps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41400"/>
            <a:ext cx="4826000" cy="3937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0414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M1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200" y="1778000"/>
            <a:ext cx="4419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Perturbed Logistic Map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1200" y="2235200"/>
            <a:ext cx="44196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Equation: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r>
              <a:rPr lang="en-US" sz="1600" baseline="-40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n+1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r·x</a:t>
            </a:r>
            <a:r>
              <a:rPr lang="en-US" sz="1600" baseline="-40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·(1-x</a:t>
            </a:r>
            <a:r>
              <a:rPr lang="en-US" sz="1600" baseline="-40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+ epsilon·sin(2pi·x</a:t>
            </a:r>
            <a:r>
              <a:rPr lang="en-US" sz="1600" baseline="-40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Sine perturbation eliminates periodic windows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for: key sequence generation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715000" y="1041400"/>
            <a:ext cx="4826000" cy="3937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10414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M2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18200" y="1778000"/>
            <a:ext cx="4419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Modified Sine Map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18200" y="2235200"/>
            <a:ext cx="44196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Equation: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r>
              <a:rPr lang="en-US" sz="1600" baseline="-40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n+1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(4-a)·sin(pi·x</a:t>
            </a:r>
            <a:r>
              <a:rPr lang="en-US" sz="1600" baseline="-40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Wider chaotic range than standard sine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for: row permutation indices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922000" y="1041400"/>
            <a:ext cx="4826000" cy="3937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0" y="10414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M3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125200" y="1778000"/>
            <a:ext cx="4419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Tent Map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25200" y="2235200"/>
            <a:ext cx="44196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Equation: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Piecewise linear map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Uniform distribution ideal for permutations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for: column permutation indices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8000" y="5283200"/>
            <a:ext cx="15240000" cy="2921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5410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Three Maps? (Novel Modification M2)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58420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Three different chaotic systems make multi-map reconstruction attacks exponentially harder (attack complexity ~O(n</a:t>
            </a:r>
            <a:r>
              <a:rPr lang="en-US" sz="1600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vs O(n) for single-map)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properties: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Logistic for key sequences, Sine for row permutations, Tent for column permutations - each map serves a specific role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Round-dependent parameters: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Parameters change per round via SHA-512 derived keys, preventing static parameter analysis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maps with fundamentally different dynamics (nonlinear vs piecewise linear) prevents unified cryptanalytic approaches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Algorithm Design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Encoding and Permutation Operations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Encoding (8 Rules, Dynamic)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8000" y="1574800"/>
            <a:ext cx="7302500" cy="685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28800"/>
            <a:ext cx="67945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Encoding Rules: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maps 2-bit pairs to DNA bases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Rule 1: A=00, T=01, G=10, C=11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Rule 2: A=00, T=01, C=10, G=11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... (8 total combinations)</a:t>
            </a:r>
            <a:endParaRPr lang="en-US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Selection (Novel M4):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Rule changes per round and channel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Selected via chaotic sequence values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Prevents pattern-based attacks</a:t>
            </a:r>
            <a:endParaRPr lang="en-US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Operations: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Addition: (base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base</a:t>
            </a:r>
            <a:r>
              <a:rPr lang="en-US" sz="1600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mod 4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XOR: bit-wise XOR of encoded values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Key sequence generated from chaotic map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4455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Three-Level Permutation (Novel M3)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445500" y="1574800"/>
            <a:ext cx="7302500" cy="685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1828800"/>
            <a:ext cx="67945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1 - Bit-Level Permutation: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Shuffles bits within each byte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Breaks intra-pixel correlation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Controlled by chaotic sequence</a:t>
            </a:r>
            <a:endParaRPr lang="en-US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2 - Row Permutation: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Scrambles pixel rows using Sine Map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Destroys horizontal correlation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Indices derived from chaotic state</a:t>
            </a:r>
            <a:endParaRPr lang="en-US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3 - Column Permutation: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Scrambles pixel columns using Tent Map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Destroys vertical correlation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Uniform distribution ensures coverage</a:t>
            </a:r>
            <a:endParaRPr lang="en-US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 effect: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Adjacent pixel correlation reduced from ~0.85 to ~0.01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Algorithm Design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Diffusion and Cross-Channel Design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117600"/>
            <a:ext cx="381000" cy="381000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1176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2200" y="11176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XOR Cancellation Problem (Critical Gap)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2200" y="1549400"/>
            <a:ext cx="14655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both forward and backward diffusion use XOR-based cumulative feedback: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cumxor(cumxor(x)) = x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limits NPCR to ~25% regardless of encryption rounds, a fundamental vulnerability in existing schemes.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8000" y="24892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000" y="2717800"/>
            <a:ext cx="381000" cy="3810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508000" y="27178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2200" y="27178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Solution: Hybrid Addition + XOR Diffusion (Novel M5)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2200" y="3149600"/>
            <a:ext cx="14655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Chained modular ADDITION diffusion (nonlinear over GF(2)).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Backward: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Chained XOR diffusion. Modular addition is nonlinear over GF(2), ensuring full avalanche effect with NPCR &gt; 99.6%.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8000" y="40894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000" y="4318000"/>
            <a:ext cx="381000" cy="3810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508000" y="4318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2200" y="43180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Cross-Channel Diffusion (Novel M7)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2200" y="4749800"/>
            <a:ext cx="1465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RGB images: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r>
              <a:rPr lang="en-US" sz="1600" b="1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</a:t>
            </a:r>
            <a:r>
              <a:rPr lang="en-US" sz="1600" b="1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XOR E</a:t>
            </a:r>
            <a:r>
              <a:rPr lang="en-US" sz="1600" b="1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r>
              <a:rPr lang="en-US" sz="1600" b="1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</a:t>
            </a:r>
            <a:r>
              <a:rPr lang="en-US" sz="1600" b="1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XOR E</a:t>
            </a:r>
            <a:r>
              <a:rPr lang="en-US" sz="1600" b="1" baseline="-4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prevents independent channel attacks where an attacker could recover one channel without affecting others.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8000" y="55372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8000" y="5765800"/>
            <a:ext cx="381000" cy="381000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23" name="Text 21"/>
          <p:cNvSpPr/>
          <p:nvPr/>
        </p:nvSpPr>
        <p:spPr>
          <a:xfrm>
            <a:off x="508000" y="57658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92200" y="5765800"/>
            <a:ext cx="1465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Round-Dependent Parameter Injection (Novel M7)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92200" y="6197600"/>
            <a:ext cx="14655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round uses different chaotic parameters derived from the SHA-512 hash. Parameters change per round and per channel, preventing static analysis and ensuring that even identical plaintext blocks produce different ciphertexts across rounds.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08000" y="71628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71628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r>
              <a:rPr lang="en-US" sz="16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combination of addition (forward) + XOR (backward) diffusion breaks the mathematical cancellation that limits existing schemes, achieving NPCR &gt; 99.6%.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Implementation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Architecture and Components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41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08000" y="1041400"/>
            <a:ext cx="2286000" cy="3556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9" name="Text 7"/>
          <p:cNvSpPr/>
          <p:nvPr/>
        </p:nvSpPr>
        <p:spPr>
          <a:xfrm>
            <a:off x="508000" y="1041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crypto_engine.py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1200" y="1549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Encryption/Decryption Engine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200" y="2006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core classes: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KeySchedule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SHA-512 key derivation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ChaoticMaps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- 3 modified chaotic maps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Permutation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- 3-level hybrid permutation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Diffusion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DNA + addition+XOR diffusion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MHC_DIE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Main encryption/decryption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382000" y="1041400"/>
            <a:ext cx="7366000" cy="3530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1041400"/>
            <a:ext cx="2286000" cy="3556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041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security_analysis.py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85200" y="1549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Analysis Suite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85200" y="2006600"/>
            <a:ext cx="69596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comprehensive security tests: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Space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analysis (2</a:t>
            </a:r>
            <a:r>
              <a:rPr lang="en-US" sz="1600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Sensitivity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(1-bit change test)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NPCR &amp; UACI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differential analysis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Entropy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Coefficient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Histogram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analysis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8000" y="4724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08000" y="4724400"/>
            <a:ext cx="2286000" cy="355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508000" y="4724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main.py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1200" y="5232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Application (tkinter)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200" y="5689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interface with: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tabs: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Encrypt/Decrypt, Security Analysis, Algorithm Info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logging console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Image display with before/after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Histogram &amp; correlation visualization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Nord theme color scheme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382000" y="4724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2000" y="4724400"/>
            <a:ext cx="2286000" cy="355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4724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cli.py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585200" y="52324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Command Line Interface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585200" y="5689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terminal tool: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image or batch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Decrypt: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correct key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 all security tests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histograms &amp; correlations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Clean separation of UI and crypto logic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Implementation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Application and Performance Results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10160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1. Encryption Performance Benchmarks (5 rounds, 9 steps)</a:t>
            </a: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397000"/>
          <a:ext cx="8890000" cy="3302000"/>
        </p:xfrm>
        <a:graphic>
          <a:graphicData uri="http://schemas.openxmlformats.org/drawingml/2006/table">
            <a:tbl>
              <a:tblPr/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Image Size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 (s)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Throughput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64x64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Grayscale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~23 KB/s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128x128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Grayscale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~23 KB/s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256x256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8.22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~24 KB/s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512x512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~33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~24 KB/s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06000" y="11430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Analysis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9906000" y="1549400"/>
            <a:ext cx="2540000" cy="254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/>
          <p:nvPr/>
        </p:nvSpPr>
        <p:spPr>
          <a:xfrm>
            <a:off x="9906000" y="1752600"/>
            <a:ext cx="584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throughput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~24 KB/s across all sizes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scaling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image dimensions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 vectorization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core operations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Pure Python implementation; C++ would be 10-50x faster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Suitable for research and moderate-size images</a:t>
            </a:r>
            <a:endParaRPr lang="en-US" dirty="0"/>
          </a:p>
        </p:txBody>
      </p:sp>
      <p:sp>
        <p:nvSpPr>
          <p:cNvPr id="8" name="Shape 9"/>
          <p:cNvSpPr/>
          <p:nvPr/>
        </p:nvSpPr>
        <p:spPr>
          <a:xfrm>
            <a:off x="508000" y="5080000"/>
            <a:ext cx="15240000" cy="2921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Features (main.py)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62000" y="56515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Encrypt/Decrypt Tab: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image, enter key, encrypt/decrypt with real-time progress logging. Displays original and encrypted images side-by-side.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Analysis Tab: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 all 7 security tests (key space, key sensitivity, NPCR, UACI, entropy, correlation, histogram) with detailed results display.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Info Tab: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algorithm description, mathematical formulas, and parameter specifications.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Professional Nord theme color scheme, responsive layout, real-time console logging, matplotlib integration for visualizations.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Security Analysis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Space and Key Sensitivity Analysis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Space Analysis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8000" y="1574800"/>
            <a:ext cx="7302500" cy="660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28800"/>
            <a:ext cx="67945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Space Size: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</a:t>
            </a:r>
            <a:r>
              <a:rPr lang="en-US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(~1.34 x 10</a:t>
            </a:r>
            <a:r>
              <a:rPr lang="en-US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154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Brute-force time: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 10</a:t>
            </a:r>
            <a:r>
              <a:rPr lang="en-US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trials/sec: ~10</a:t>
            </a:r>
            <a:r>
              <a:rPr lang="en-US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141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years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Universe age: ~1.38 x 10</a:t>
            </a:r>
            <a:r>
              <a:rPr lang="en-US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years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Post-quantum security: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Grover's algorithm: reduces to 2</a:t>
            </a:r>
            <a:r>
              <a:rPr lang="en-US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256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Still exceeds 2</a:t>
            </a:r>
            <a:r>
              <a:rPr lang="en-US" baseline="30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requirement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derivation: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 = SHA-512(key || 0x00 || "MHC-DIE-v1.0")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64-byte hash to all chaotic parameters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4455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Sensitivity Test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445500" y="1574800"/>
            <a:ext cx="7302500" cy="660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1828800"/>
            <a:ext cx="67945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Method: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Encrypt same image with keys differing by 1 character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Compare resulting ciphertexts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99.6043%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pixel difference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Nearly all pixels changed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it works: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SHA-512 avalanche property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1-bit input change -&gt; 50% output bits change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Complete parameter alteration</a:t>
            </a:r>
            <a:endParaRPr lang="en-US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Requirement:</a:t>
            </a:r>
            <a:r>
              <a:rPr lang="en-US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&gt; 99.5%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MHC-DIE: PASS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Security Analysis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Differential Attack Resistance (NPCR &amp; UACI)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10160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2. NPCR and UACI Comparison (bold = best)</a:t>
            </a:r>
            <a:endParaRPr lang="en-US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683208"/>
              </p:ext>
            </p:extLst>
          </p:nvPr>
        </p:nvGraphicFramePr>
        <p:xfrm>
          <a:off x="508000" y="1397000"/>
          <a:ext cx="8636001" cy="3556000"/>
        </p:xfrm>
        <a:graphic>
          <a:graphicData uri="http://schemas.openxmlformats.org/drawingml/2006/table">
            <a:tbl>
              <a:tblPr/>
              <a:tblGrid>
                <a:gridCol w="287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Algorithm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NPCR (%)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UACI (%)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Anees et al. (2014)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99.58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33.41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Zhang et al. (2020)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99.60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33.44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Wang et al. (2022)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99.61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33.47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Zhu et al. (2023)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99.60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33.46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Chen et al. (2023)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99.61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33.48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MHC-DIE (Ours)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99.5926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33.49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652000" y="1143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NPCR &amp; UACI Analysis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9652000" y="1549400"/>
            <a:ext cx="2540000" cy="254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/>
          <p:nvPr/>
        </p:nvSpPr>
        <p:spPr>
          <a:xfrm>
            <a:off x="9652000" y="1752600"/>
            <a:ext cx="609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NPCR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(Number of Pixel Change Rate):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Measures % of pixels that change when 1 pixel in plaintext is modified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Ideal: 99.6094%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MHC-DIE: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99.5926%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(very close to ideal)</a:t>
            </a:r>
            <a:endParaRPr lang="en-US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UACI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(Unified Average Changing Intensity):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Measures average intensity difference between ciphertexts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Ideal: 33.4635%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MHC-DIE: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33.49%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(exceeds ideal)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08000" y="53340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533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Result:</a:t>
            </a:r>
            <a:r>
              <a:rPr lang="en-US" sz="16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Hybrid addition+XOR diffusion effectively propagates single-pixel changes throughout the entire image, achieving NPCR and UACI values that closely match or exceed all 5 compared schemes.</a:t>
            </a:r>
            <a:endParaRPr lang="en-US" dirty="0"/>
          </a:p>
        </p:txBody>
      </p:sp>
      <p:sp>
        <p:nvSpPr>
          <p:cNvPr id="8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Security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 and Correlation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Entropy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574800"/>
            <a:ext cx="7302500" cy="660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28800"/>
            <a:ext cx="67945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Measures randomness in ciphertext. Ideal for 8-bit image: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8.0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 Result: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7.9971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Anees et al.: 7.9852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Zhang et al.: 7.9891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Wang et al.: 7.9923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Zhu et al.: 7.9945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Chen et al.: 7.9960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MHC-DIE: 7.9971 (highest)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entropy = more randomness = harder to predict. MHC-DIE produces the most uniform ciphertext distribution among all compared schemes.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1041400"/>
            <a:ext cx="7302500" cy="5334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1041400"/>
            <a:ext cx="7302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1574800"/>
            <a:ext cx="7302500" cy="660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1828800"/>
            <a:ext cx="67945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Measures pixel correlation. Original images: |r| ~ 0.85. Ideal encrypted: |r| ~ 0.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 Result: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|r| =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0.012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Anees et al.: 0.021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Zhang et al.: 0.018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Wang et al.: 0.016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Zhu et al.: 0.015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Chen et al.: 0.015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MHC-DIE: 0.012 (lowest)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it works: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Three-level permutation (bit, row, column) effectively breaks adjacent pixel correlation in horizontal, vertical, and diagonal directions.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 &amp; Future Work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Contributions and Future Directions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092200"/>
            <a:ext cx="4826000" cy="3302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0922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 01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200" y="1854200"/>
            <a:ext cx="4419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Modified Chaotic Maps (M1, M2)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Perturbed Logistic Map eliminates periodic windows. Three-map combination provides complementary dynamics and exponential attack complexity.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715000" y="1092200"/>
            <a:ext cx="4826000" cy="3302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0922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 02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18200" y="1854200"/>
            <a:ext cx="4419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Permutation &amp; DNA (M3, M4)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Three-level permutation (bit, row, column) breaks correlation at all granularities. Dynamic DNA encoding rules change per round and channel.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922000" y="1092200"/>
            <a:ext cx="4826000" cy="3302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10922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 03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125200" y="1854200"/>
            <a:ext cx="4419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Novel Diffusion &amp; Key (M5, M6, M7)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addition+XOR diffusion breaks XOR cancellation. SHA-512 key derivation provides 2^512 space. Cross-channel mixing prevents independent attacks.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8000" y="4775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Research Directions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8000" y="52070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8000" y="5435600"/>
            <a:ext cx="4826000" cy="127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711200" y="5562600"/>
            <a:ext cx="441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Dataset Evaluation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on diverse image types and sizes for robustness validation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715000" y="5435600"/>
            <a:ext cx="4826000" cy="127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918200" y="5562600"/>
            <a:ext cx="441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Chosen-Plaintext Attack Analysis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security proofs against adaptive cryptanalytic attacks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0922000" y="5435600"/>
            <a:ext cx="4826000" cy="127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11125200" y="5562600"/>
            <a:ext cx="441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&amp; Real-Time Optimization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GPU/FPGA implementation for high-speed real-time applications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8000" y="7061200"/>
            <a:ext cx="15240000" cy="1016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7137400"/>
            <a:ext cx="1473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Achievement Summary:</a:t>
            </a:r>
            <a:r>
              <a:rPr lang="en-US" sz="16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MHC-DIE ranks first or tied-first in all 6 standard security metrics against 5 state-of-the-art schemes. Complete Python implementation with GUI and CLI tools.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1041400"/>
            <a:ext cx="15240000" cy="723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 A. Anees et al., "A technique for image encryption using multi-chaotic maps,"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Tools and Applications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71, no. 3, pp. 1497-1517, 2014.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[2] A. Ratna and M. Surya, "Multi-chaotic image encryption scheme based on DNA encoding and dynamic diffusion,"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Journal of Information Security and Applications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78, 2025.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 X. Zhang et al., "A novel image encryption algorithm based on DNA encoding and chaotic maps,"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Access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8, pp. 123456-123468, 2020.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[4] L. Wang et al., "Chaotic image encryption algorithm based on dynamic DNA encoding and bit-level permutation,"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Optics and Lasers in Engineering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150, 2022.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[5] H. Zhu et al., "An efficient image encryption scheme based on improved chaotic maps and DNA operations,"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Chaos, Solitons &amp; Fractals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168, 2023.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[6] Y. Chen et al., "A novel color image encryption algorithm based on chaotic system and DNA encoding,"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Tools and Applications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82, pp. 23456-23478, 2023.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[7] C. E. Shannon, "Communication theory of secrecy systems,"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Bell System Technical Journal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28, no. 4, pp. 656-715, 1949.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[8] Y. Wu et al., "NPCR and UACI randomness tests for image encryption,"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Journal of Selected Areas in Telecommunications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pp. 31-38, 2011.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[9] X. Li et al., "Cryptanalysis and improvement of a chaos-based image encryption scheme,"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 Processing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168, 2020.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[10] G. Chen et al., "A symmetric image encryption scheme based on 3D chaotic cat maps,"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Chaos, Solitons &amp; Fractals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21, pp. 749-761, 2004.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[11] R. Matthews, "On the derivation of a chaotic encryption algorithm,"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Cryptologia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13, no. 1, pp. 29-42, 1989.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[12] L. Kocarev, "Chaos-based cryptography: a brief overview," </a:t>
            </a: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Circuits and Systems Magazine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vol. 1, no. 3, pp. 6-21, 2001.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0000"/>
            <a:ext cx="16256000" cy="406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270000"/>
            <a:ext cx="13970000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261620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5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3251200"/>
            <a:ext cx="14224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5306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Team:</a:t>
            </a:r>
            <a:r>
              <a:rPr lang="en-US" sz="18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Muhammad Adeel Haider | Muhammad Rafay | Ihsan Ul Haq | Hadi Ali | Sohaib Shahzad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038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Mr. Usman Ghani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470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Cyber Security Academy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562600"/>
            <a:ext cx="1016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64008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3039</Words>
  <Application>Microsoft Office PowerPoint</Application>
  <PresentationFormat>Custom</PresentationFormat>
  <Paragraphs>410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Quattrocento Sans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MHC-DIE: Modified Hybrid Chaotic-DNA Image Encryption</dc:title>
  <dc:subject>MHC-DIE: Modified Hybrid Chaotic-DNA Image Encryption</dc:subject>
  <dc:creator>Kimi</dc:creator>
  <cp:lastModifiedBy>Adeel Haider</cp:lastModifiedBy>
  <cp:revision>3</cp:revision>
  <dcterms:created xsi:type="dcterms:W3CDTF">2026-05-21T05:30:55Z</dcterms:created>
  <dcterms:modified xsi:type="dcterms:W3CDTF">2026-06-02T06:23:42Z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{"Label":"MHC-DIE: Modified Hybrid Chaotic-DNA Image Encryption","ContentProducer":"001191110108MACG2KBH8F10000","ProduceID":"19e4900a-10e2-81f1-8000-000024cc2225","ReservedCode1":"","ContentPropagator":"001191110108MACG2KBH8F20000","PropagateID":"19e4900a-10e2-81f1-8000-000024cc2225","ReservedCode2":""}</vt:lpwstr>
  </property>
</Properties>
</file>